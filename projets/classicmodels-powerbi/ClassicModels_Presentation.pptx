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14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PROJET DÉCISIONNEL  ·  CLASSICMODELS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ClassicModels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CADCFC"/>
                </a:solidFill>
                <a:latin typeface="Calibri"/>
              </a:rPr>
              <a:t>Pilotage de la performance commerciale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Solution d'aide à la décision : de la base transactionnelle au tableau de bord Power BI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5074920"/>
            <a:ext cx="603504" cy="6035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511149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Ludivine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4041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Analyste décisionnelle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5074920"/>
            <a:ext cx="603504" cy="6035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0749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11149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Laurie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041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Analyste décisionnelle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5074920"/>
            <a:ext cx="603504" cy="6035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0749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111496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Suz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4041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Analyste décisionnelle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761"/>
                </a:solidFill>
                <a:latin typeface="Cambria"/>
              </a:rPr>
              <a:t>Notre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A2A3A"/>
                </a:solidFill>
                <a:latin typeface="Calibri"/>
              </a:rPr>
              <a:t>Concevoir une solution d'aide à la décision pour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ClassicModels</a:t>
            </a:r>
            <a:r>
              <a:rPr sz="1500" b="0" i="0">
                <a:solidFill>
                  <a:srgbClr val="2A2A3A"/>
                </a:solidFill>
                <a:latin typeface="Calibri"/>
              </a:rPr>
              <a:t>, distributeur international de modèles réduits de collection.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Équipe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A2A3A"/>
                </a:solidFill>
                <a:latin typeface="Calibri"/>
              </a:rPr>
              <a:t>3 analystes décisionnelles : </a:t>
            </a:r>
            <a:r>
              <a:rPr sz="1400" b="1" i="0">
                <a:solidFill>
                  <a:srgbClr val="1E2761"/>
                </a:solidFill>
                <a:latin typeface="Calibri"/>
              </a:rPr>
              <a:t>Ludivine, Laurie et Suz</a:t>
            </a:r>
            <a:r>
              <a:rPr sz="1400" b="0" i="0">
                <a:solidFill>
                  <a:srgbClr val="2A2A3A"/>
                </a:solidFill>
                <a:latin typeface="Calibri"/>
              </a:rPr>
              <a:t>, chacune pilotant un axe métier de bout en bout.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960120"/>
            <a:ext cx="4892040" cy="13258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93992" y="1216152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216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161288"/>
            <a:ext cx="36575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Base transactionnelle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581912"/>
            <a:ext cx="36575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55E85"/>
                </a:solidFill>
                <a:latin typeface="Calibri"/>
              </a:rPr>
              <a:t>Données brutes des ventes, clients, commandes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7456" y="2286000"/>
            <a:ext cx="0" cy="365760"/>
          </a:xfrm>
          <a:prstGeom prst="line">
            <a:avLst/>
          </a:prstGeom>
          <a:ln w="28575">
            <a:solidFill>
              <a:srgbClr val="CADC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2606040"/>
            <a:ext cx="4892040" cy="13258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93992" y="2862072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8620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807208"/>
            <a:ext cx="36575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Couche analytique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27832"/>
            <a:ext cx="36575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55E85"/>
                </a:solidFill>
                <a:latin typeface="Calibri"/>
              </a:rPr>
              <a:t>Requêtes SQL &amp; mesures DAX pour chaque indicateur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77456" y="3931920"/>
            <a:ext cx="0" cy="365760"/>
          </a:xfrm>
          <a:prstGeom prst="line">
            <a:avLst/>
          </a:prstGeom>
          <a:ln w="28575">
            <a:solidFill>
              <a:srgbClr val="CADC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4251960"/>
            <a:ext cx="4892040" cy="13258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93992" y="4507992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450799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53128"/>
            <a:ext cx="36575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Dashboard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73752"/>
            <a:ext cx="36575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55E85"/>
                </a:solidFill>
                <a:latin typeface="Calibri"/>
              </a:rPr>
              <a:t>Restitution visuelle et interactive par axe métier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Cahier des charges &amp; répartition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C9A227"/>
                </a:solidFill>
                <a:latin typeface="Cambr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55E85"/>
                </a:solidFill>
                <a:latin typeface="Calibri"/>
              </a:rPr>
              <a:t>axes métiers à couvrir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916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C9A227"/>
                </a:solidFill>
                <a:latin typeface="Cambria"/>
              </a:rPr>
              <a:t>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231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55E85"/>
                </a:solidFill>
                <a:latin typeface="Calibri"/>
              </a:rPr>
              <a:t>indicateurs clés par axe (SQL &amp; DAX)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1783080"/>
            <a:ext cx="0" cy="1097280"/>
          </a:xfrm>
          <a:prstGeom prst="line">
            <a:avLst/>
          </a:prstGeom>
          <a:ln w="19050">
            <a:solidFill>
              <a:srgbClr val="CADC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169164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2A3A"/>
                </a:solidFill>
                <a:latin typeface="Calibri"/>
              </a:rPr>
              <a:t>Chaque axe combine calculs SQL natifs et mesures DAX,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2A3A"/>
                </a:solidFill>
                <a:latin typeface="Calibri"/>
              </a:rPr>
              <a:t>restitués dans un tableau de bord Power BI dédié.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Répartition du travail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2761"/>
                </a:solidFill>
                <a:latin typeface="Calibri"/>
              </a:rPr>
              <a:t>Ludivine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0799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55E85"/>
                </a:solidFill>
                <a:latin typeface="Calibri"/>
              </a:rPr>
              <a:t>Ventes &amp; Produits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3703320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19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2761"/>
                </a:solidFill>
                <a:latin typeface="Calibri"/>
              </a:rPr>
              <a:t>Laurie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450799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55E85"/>
                </a:solidFill>
                <a:latin typeface="Calibri"/>
              </a:rPr>
              <a:t>Logistique &amp; Stocks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3703320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9" y="4069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Suz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450799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Ressources Humaines &amp; Bureaux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55E85"/>
                </a:solidFill>
                <a:latin typeface="Calibri"/>
              </a:rPr>
              <a:t>Ensemble, ces trois axes couvrent l'intégralité du pilotage commercial de ClassicModels — des équipes aux ventes jusqu'aux stocks.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Une activité saine, portée par quelques leviers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A2A3A"/>
                </a:solidFill>
                <a:latin typeface="Calibri"/>
              </a:rPr>
              <a:t>L'entreprise présente une activité commerciale globalement saine et performante, avec un bon recouvrement et des délais de traitement maîtrisés.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Point de vigilance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64992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55E85"/>
                </a:solidFill>
                <a:latin typeface="Calibri"/>
              </a:rPr>
              <a:t>L'activité repose principalement sur quelques catégories de produits et marchés — une force, mais aussi un risque de dépendance.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340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537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Produit à fort potentiel à suivre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646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1">
                <a:solidFill>
                  <a:srgbClr val="1E2761"/>
                </a:solidFill>
                <a:latin typeface="Cambria"/>
              </a:rPr>
              <a:t>1960 BSA Gold 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55E85"/>
                </a:solidFill>
                <a:latin typeface="Calibri"/>
              </a:rPr>
              <a:t>Son suivi peut aider à mieux orienter les ventes et à optimiser les performances futures.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Axes d'amélioration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237744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774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32304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Activation des clients non affectés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294436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944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9923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Gestion de la saisonnalité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511296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1129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5661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Anticipation des stocks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4078224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782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33087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Écoulement des produits dormants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7823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Recommandations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84064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55E85"/>
                </a:solidFill>
                <a:latin typeface="Calibri"/>
              </a:rPr>
              <a:t>Prioriser l'activation des clients inactifs, lisser les achats sur les périodes de forte saisonnalité, et renforcer le suivi des références à fort potentiel comme le 1960 BSA Gold Star pour capter leur plein potentiel commercial.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